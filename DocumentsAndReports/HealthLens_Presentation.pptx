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677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164592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0D9B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548640" y="365760"/>
            <a:ext cx="1188720" cy="1188720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8524" y="1508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HealthLens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288524" y="2173986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0F7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Patient-Centered Clinical Decision Support System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0F7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Disease Risk Assessment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3175254"/>
            <a:ext cx="5020322" cy="1122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Prepared by:</a:t>
            </a:r>
            <a:br>
              <a:rPr lang="en-US" sz="900" dirty="0">
                <a:solidFill>
                  <a:srgbClr val="FFFFFF"/>
                </a:solidFill>
                <a:cs typeface="Calibri" pitchFamily="34" charset="-120"/>
              </a:rPr>
            </a:br>
            <a:r>
              <a:rPr lang="en-US" sz="2000" dirty="0">
                <a:solidFill>
                  <a:srgbClr val="FFFFFF"/>
                </a:solidFill>
                <a:ea typeface="Segoe UI Historic" panose="020B0502040204020203" pitchFamily="34" charset="0"/>
                <a:cs typeface="Segoe UI Historic" panose="020B0502040204020203" pitchFamily="34" charset="0"/>
              </a:rPr>
              <a:t>Uthara Uday (</a:t>
            </a:r>
            <a:r>
              <a:rPr lang="en-BD" sz="2000" dirty="0">
                <a:solidFill>
                  <a:schemeClr val="bg1"/>
                </a:solidFill>
                <a:ea typeface="Segoe UI Historic" panose="020B0502040204020203" pitchFamily="34" charset="0"/>
                <a:cs typeface="Segoe UI Historic" panose="020B0502040204020203" pitchFamily="34" charset="0"/>
              </a:rPr>
              <a:t>300395271</a:t>
            </a:r>
            <a:r>
              <a:rPr lang="en-BD" sz="2000" b="1" dirty="0">
                <a:ea typeface="Segoe UI Historic" panose="020B0502040204020203" pitchFamily="34" charset="0"/>
                <a:cs typeface="Segoe UI Historic" panose="020B0502040204020203" pitchFamily="34" charset="0"/>
              </a:rPr>
              <a:t> </a:t>
            </a:r>
            <a:r>
              <a:rPr lang="en-US" sz="2000" dirty="0">
                <a:solidFill>
                  <a:srgbClr val="FFFFFF"/>
                </a:solidFill>
                <a:ea typeface="Segoe UI Historic" panose="020B0502040204020203" pitchFamily="34" charset="0"/>
                <a:cs typeface="Segoe UI Historic" panose="020B0502040204020203" pitchFamily="34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ea typeface="Segoe UI Historic" panose="020B0502040204020203" pitchFamily="34" charset="0"/>
                <a:cs typeface="Segoe UI Historic" panose="020B0502040204020203" pitchFamily="34" charset="0"/>
              </a:rPr>
              <a:t>Akiful </a:t>
            </a:r>
            <a:r>
              <a:rPr lang="en-US" sz="2000" dirty="0" err="1">
                <a:solidFill>
                  <a:srgbClr val="FFFFFF"/>
                </a:solidFill>
                <a:ea typeface="Segoe UI Historic" panose="020B0502040204020203" pitchFamily="34" charset="0"/>
                <a:cs typeface="Segoe UI Historic" panose="020B0502040204020203" pitchFamily="34" charset="0"/>
              </a:rPr>
              <a:t>Mohaimin</a:t>
            </a:r>
            <a:r>
              <a:rPr lang="en-US" sz="2000" dirty="0">
                <a:solidFill>
                  <a:srgbClr val="FFFFFF"/>
                </a:solidFill>
                <a:ea typeface="Segoe UI Historic" panose="020B0502040204020203" pitchFamily="34" charset="0"/>
                <a:cs typeface="Segoe UI Historic" panose="020B0502040204020203" pitchFamily="34" charset="0"/>
              </a:rPr>
              <a:t> (300369823)</a:t>
            </a:r>
            <a:endParaRPr lang="en-US" sz="2000" dirty="0">
              <a:ea typeface="Segoe UI Historic" panose="020B0502040204020203" pitchFamily="34" charset="0"/>
              <a:cs typeface="Segoe UI Historic" panose="020B0502040204020203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476631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Presented for Academic Defense 2026 | </a:t>
            </a:r>
            <a:r>
              <a:rPr lang="en-GB" sz="1000" dirty="0">
                <a:solidFill>
                  <a:schemeClr val="bg1"/>
                </a:solidFill>
              </a:rPr>
              <a:t>Applied Research Project (CSIS 4495)| Section 03</a:t>
            </a:r>
          </a:p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B8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Patient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520440" y="868680"/>
            <a:ext cx="36576" cy="3749040"/>
          </a:xfrm>
          <a:prstGeom prst="rect">
            <a:avLst/>
          </a:prstGeom>
          <a:solidFill>
            <a:srgbClr val="D4EE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703320" y="868680"/>
            <a:ext cx="51206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703320" y="868680"/>
            <a:ext cx="109728" cy="120700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931920" y="1179576"/>
            <a:ext cx="585216" cy="585216"/>
          </a:xfrm>
          <a:prstGeom prst="ellipse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594" y="1311250"/>
            <a:ext cx="321869" cy="32186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45152" y="96012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Reports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45152" y="127101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reports contain medical jargon that most patients cannot interpret without clinical guidance.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03320" y="2194560"/>
            <a:ext cx="51206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703320" y="2194560"/>
            <a:ext cx="109728" cy="1207008"/>
          </a:xfrm>
          <a:prstGeom prst="rect">
            <a:avLst/>
          </a:prstGeom>
          <a:solidFill>
            <a:srgbClr val="E870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931920" y="2505456"/>
            <a:ext cx="585216" cy="585216"/>
          </a:xfrm>
          <a:prstGeom prst="ellipse">
            <a:avLst/>
          </a:prstGeom>
          <a:solidFill>
            <a:srgbClr val="E8704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594" y="2637130"/>
            <a:ext cx="321869" cy="32186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45152" y="22860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Awareness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645152" y="259689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 indicators like high glucose or LDL go unnoticed until a clinical visit — often too late.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703320" y="3520440"/>
            <a:ext cx="51206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3703320" y="3520440"/>
            <a:ext cx="109728" cy="1207008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3931920" y="3831336"/>
            <a:ext cx="585216" cy="585216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594" y="3963010"/>
            <a:ext cx="321869" cy="32186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45152" y="361188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645152" y="392277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all patients have timely access to doctors for routine risk assessment and follow-up.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B8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 &amp;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HealthLens Aims to Achieve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87952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640080" cy="640080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" y="156133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07592" y="139903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Intelligence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07592" y="1719072"/>
            <a:ext cx="3063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Parse lab reports (PDF, scanned) and extract critical biomarkers automatically.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261872"/>
            <a:ext cx="4187952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937760" y="1417320"/>
            <a:ext cx="640080" cy="640080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778" y="156133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42432" y="139903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Risk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742432" y="1719072"/>
            <a:ext cx="3063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 ML models for diabetes and heart disease risk scoring from structured data.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" y="3182112"/>
            <a:ext cx="4187952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02920" y="3337560"/>
            <a:ext cx="640080" cy="640080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38" y="348157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07592" y="331927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Trends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307592" y="3639312"/>
            <a:ext cx="3063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Track health indicators over time with intuitive charts and historical comparisons.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3182112"/>
            <a:ext cx="4187952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4937760" y="3337560"/>
            <a:ext cx="640080" cy="640080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1778" y="3481578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42432" y="331927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Patients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742432" y="3639312"/>
            <a:ext cx="3063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 plain-language insights and lifestyle recommendations via a patient-friendly dashboard.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20040" y="4681728"/>
            <a:ext cx="8503920" cy="292608"/>
          </a:xfrm>
          <a:prstGeom prst="rect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411480" y="46817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Scope: Non-diagnostic tool — results are informational only and do not replace clinical diagnosis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B8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HealthLens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560320" cy="406908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560320" cy="38404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228600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7F1D1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Raw PDF lab report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7F1D1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Confusing medical values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7F1D1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risk context given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7F1D1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Requires doctor visit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7F1D1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trend visibility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7F1D1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Patient feels uninformed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17520" y="2423160"/>
            <a:ext cx="960120" cy="12801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063240" y="2212848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A7E8C"/>
                </a:solidFill>
              </a:rPr>
              <a:t>➤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035808" y="2834640"/>
            <a:ext cx="960120" cy="960120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2999232"/>
            <a:ext cx="59436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880360" y="39136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HealthLens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160520" y="822960"/>
            <a:ext cx="4709160" cy="4069080"/>
          </a:xfrm>
          <a:prstGeom prst="rect">
            <a:avLst/>
          </a:prstGeom>
          <a:solidFill>
            <a:srgbClr val="F0FB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160520" y="822960"/>
            <a:ext cx="4709160" cy="384048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160520" y="82296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HealthLens in Action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98848" y="1335024"/>
            <a:ext cx="365760" cy="365760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1417320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974336" y="133502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Auto-extracts glucose, HbA1c, LDL, BP from reports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498848" y="2011680"/>
            <a:ext cx="365760" cy="365760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44" y="2093976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74336" y="201168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ML predicts diabetes &amp; heart disease risk scores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498848" y="2688336"/>
            <a:ext cx="365760" cy="365760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2770632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974336" y="26883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Trend charts from historical report uploads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498848" y="3364992"/>
            <a:ext cx="365760" cy="365760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144" y="3447288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74336" y="336499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Plain-language explanations + lifestyle tips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498848" y="4041648"/>
            <a:ext cx="365760" cy="365760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144" y="4123944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974336" y="404164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chat support for patient questions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B8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Four-Layer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029968" cy="47548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777240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41832" y="1353312"/>
            <a:ext cx="603504" cy="603504"/>
          </a:xfrm>
          <a:prstGeom prst="ellipse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481328"/>
            <a:ext cx="310896" cy="310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8600" y="2075688"/>
            <a:ext cx="202996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28600" y="2075688"/>
            <a:ext cx="73152" cy="274320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56616" y="2176272"/>
            <a:ext cx="1847088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Patient Login / Register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Upload: PDF · Scan · JPG/PNG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 Demographics &amp; Symptoms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258568" y="1325880"/>
            <a:ext cx="155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BA9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414016" y="777240"/>
            <a:ext cx="2029968" cy="475488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414016" y="777240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127248" y="1353312"/>
            <a:ext cx="603504" cy="603504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481328"/>
            <a:ext cx="310896" cy="31089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414016" y="2075688"/>
            <a:ext cx="202996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2414016" y="2075688"/>
            <a:ext cx="73152" cy="274320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2542032" y="2176272"/>
            <a:ext cx="1847088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 Text Extraction (PyPDF2)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OCR Fallback (scanned docs)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Regex-based Indicator Extraction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Cleaning &amp; Feature Structuring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443984" y="1325880"/>
            <a:ext cx="155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BA9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599432" y="777240"/>
            <a:ext cx="2029968" cy="475488"/>
          </a:xfrm>
          <a:prstGeom prst="rect">
            <a:avLst/>
          </a:prstGeom>
          <a:solidFill>
            <a:srgbClr val="0A8C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4599432" y="777240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LAYER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312664" y="1353312"/>
            <a:ext cx="603504" cy="603504"/>
          </a:xfrm>
          <a:prstGeom prst="ellipse">
            <a:avLst/>
          </a:prstGeom>
          <a:solidFill>
            <a:srgbClr val="0A8C6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1481328"/>
            <a:ext cx="310896" cy="310896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599432" y="2075688"/>
            <a:ext cx="202996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4599432" y="2075688"/>
            <a:ext cx="73152" cy="2743200"/>
          </a:xfrm>
          <a:prstGeom prst="rect">
            <a:avLst/>
          </a:prstGeom>
          <a:solidFill>
            <a:srgbClr val="0A8C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4727448" y="2176272"/>
            <a:ext cx="1847088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Diabetes Risk Model (scikit-learn)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Heart Disease Risk Model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Combined Chronic Risk Scoring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629400" y="1325880"/>
            <a:ext cx="155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BA9"/>
                </a:solidFill>
              </a:rPr>
              <a:t>▶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784848" y="777240"/>
            <a:ext cx="2029968" cy="475488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/>
          <p:nvPr/>
        </p:nvSpPr>
        <p:spPr>
          <a:xfrm>
            <a:off x="6784848" y="777240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7498080" y="1353312"/>
            <a:ext cx="603504" cy="603504"/>
          </a:xfrm>
          <a:prstGeom prst="ellipse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384" y="1481328"/>
            <a:ext cx="310896" cy="310896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6784848" y="2075688"/>
            <a:ext cx="202996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6784848" y="2075688"/>
            <a:ext cx="73152" cy="2743200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/>
          <p:nvPr/>
        </p:nvSpPr>
        <p:spPr>
          <a:xfrm>
            <a:off x="6912864" y="2176272"/>
            <a:ext cx="1847088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Patient Dashboard &amp;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Trend Charts · Report History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Lifestyle Recommendations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Chat Support Tab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228600" y="4800600"/>
            <a:ext cx="8686800" cy="237744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1"/>
          <p:cNvSpPr/>
          <p:nvPr/>
        </p:nvSpPr>
        <p:spPr>
          <a:xfrm>
            <a:off x="320040" y="4800600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Security:   SQLite Database   |   bcrypt Authentication   |   Saved Uploads &amp; Result History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B8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End-to-End System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3192" y="1627632"/>
            <a:ext cx="768096" cy="768096"/>
          </a:xfrm>
          <a:prstGeom prst="ellipse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810512"/>
            <a:ext cx="402336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3192" y="1536192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93192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55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8872" y="2487168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8872" y="2761488"/>
            <a:ext cx="1316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 / Scan / Image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Patient Demographics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179576" y="1965960"/>
            <a:ext cx="621792" cy="91440"/>
          </a:xfrm>
          <a:prstGeom prst="rect">
            <a:avLst/>
          </a:prstGeom>
          <a:solidFill>
            <a:srgbClr val="0D9B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709928" y="1810512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BA9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819656" y="1627632"/>
            <a:ext cx="768096" cy="768096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536" y="1810512"/>
            <a:ext cx="402336" cy="40233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819656" y="1536192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1819656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545336" y="2487168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545336" y="2761488"/>
            <a:ext cx="1316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PyPDF2 → full text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OCR if scan detected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606040" y="1965960"/>
            <a:ext cx="621792" cy="91440"/>
          </a:xfrm>
          <a:prstGeom prst="rect">
            <a:avLst/>
          </a:prstGeom>
          <a:solidFill>
            <a:srgbClr val="0D9B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3136392" y="1810512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BA9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246120" y="1627632"/>
            <a:ext cx="768096" cy="768096"/>
          </a:xfrm>
          <a:prstGeom prst="ellipse">
            <a:avLst/>
          </a:prstGeom>
          <a:solidFill>
            <a:srgbClr val="0A8C6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810512"/>
            <a:ext cx="402336" cy="40233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246120" y="1536192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3246120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8C6A"/>
                </a:solidFill>
              </a:rPr>
              <a:t>3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2971800" y="2487168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Extraction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2971800" y="2761488"/>
            <a:ext cx="1316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Regex detects: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Glucose, HbA1c, LDL…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032504" y="1965960"/>
            <a:ext cx="621792" cy="91440"/>
          </a:xfrm>
          <a:prstGeom prst="rect">
            <a:avLst/>
          </a:prstGeom>
          <a:solidFill>
            <a:srgbClr val="0D9B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4562856" y="1810512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BA9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4672584" y="1627632"/>
            <a:ext cx="768096" cy="768096"/>
          </a:xfrm>
          <a:prstGeom prst="ellipse">
            <a:avLst/>
          </a:prstGeom>
          <a:solidFill>
            <a:srgbClr val="C478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1810512"/>
            <a:ext cx="402336" cy="402336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4672584" y="1536192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/>
          <p:nvPr/>
        </p:nvSpPr>
        <p:spPr>
          <a:xfrm>
            <a:off x="4672584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7800"/>
                </a:solidFill>
              </a:rPr>
              <a:t>4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4398264" y="2487168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Structuring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398264" y="2761488"/>
            <a:ext cx="1316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Combine extracted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values + demographics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5458968" y="1965960"/>
            <a:ext cx="621792" cy="91440"/>
          </a:xfrm>
          <a:prstGeom prst="rect">
            <a:avLst/>
          </a:prstGeom>
          <a:solidFill>
            <a:srgbClr val="0D9B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0"/>
          <p:cNvSpPr/>
          <p:nvPr/>
        </p:nvSpPr>
        <p:spPr>
          <a:xfrm>
            <a:off x="5989320" y="1810512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BA9"/>
                </a:solidFill>
              </a:rPr>
              <a:t>▶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6099048" y="1627632"/>
            <a:ext cx="768096" cy="768096"/>
          </a:xfrm>
          <a:prstGeom prst="ellipse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1810512"/>
            <a:ext cx="402336" cy="402336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6099048" y="1536192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3"/>
          <p:cNvSpPr/>
          <p:nvPr/>
        </p:nvSpPr>
        <p:spPr>
          <a:xfrm>
            <a:off x="6099048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2FBE"/>
                </a:solidFill>
              </a:rPr>
              <a:t>5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5824728" y="2487168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5824728" y="2761488"/>
            <a:ext cx="1316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Diabetes 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Heart disease model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6885432" y="1965960"/>
            <a:ext cx="621792" cy="91440"/>
          </a:xfrm>
          <a:prstGeom prst="rect">
            <a:avLst/>
          </a:prstGeom>
          <a:solidFill>
            <a:srgbClr val="0D9B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7"/>
          <p:cNvSpPr/>
          <p:nvPr/>
        </p:nvSpPr>
        <p:spPr>
          <a:xfrm>
            <a:off x="7415784" y="1810512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BA9"/>
                </a:solidFill>
              </a:rPr>
              <a:t>▶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7525512" y="1627632"/>
            <a:ext cx="768096" cy="7680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8392" y="1810512"/>
            <a:ext cx="402336" cy="402336"/>
          </a:xfrm>
          <a:prstGeom prst="rect">
            <a:avLst/>
          </a:prstGeom>
        </p:spPr>
      </p:pic>
      <p:sp>
        <p:nvSpPr>
          <p:cNvPr id="47" name="Shape 39"/>
          <p:cNvSpPr/>
          <p:nvPr/>
        </p:nvSpPr>
        <p:spPr>
          <a:xfrm>
            <a:off x="7525512" y="1536192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0"/>
          <p:cNvSpPr/>
          <p:nvPr/>
        </p:nvSpPr>
        <p:spPr>
          <a:xfrm>
            <a:off x="7525512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6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7251192" y="2487168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Output</a:t>
            </a:r>
            <a:endParaRPr lang="en-US" sz="1050" dirty="0"/>
          </a:p>
        </p:txBody>
      </p:sp>
      <p:sp>
        <p:nvSpPr>
          <p:cNvPr id="50" name="Text 42"/>
          <p:cNvSpPr/>
          <p:nvPr/>
        </p:nvSpPr>
        <p:spPr>
          <a:xfrm>
            <a:off x="7251192" y="2761488"/>
            <a:ext cx="1316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 scores, charts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Recommendations + AI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512064" y="3374136"/>
            <a:ext cx="3017520" cy="804672"/>
          </a:xfrm>
          <a:prstGeom prst="rect">
            <a:avLst/>
          </a:prstGeom>
          <a:solidFill>
            <a:srgbClr val="FFF8E7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44"/>
          <p:cNvSpPr/>
          <p:nvPr/>
        </p:nvSpPr>
        <p:spPr>
          <a:xfrm>
            <a:off x="512064" y="3374136"/>
            <a:ext cx="73152" cy="80467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45"/>
          <p:cNvSpPr/>
          <p:nvPr/>
        </p:nvSpPr>
        <p:spPr>
          <a:xfrm>
            <a:off x="658368" y="342900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Fallback Branch</a:t>
            </a:r>
            <a:endParaRPr lang="en-US" sz="1050" dirty="0"/>
          </a:p>
        </p:txBody>
      </p:sp>
      <p:sp>
        <p:nvSpPr>
          <p:cNvPr id="54" name="Text 46"/>
          <p:cNvSpPr/>
          <p:nvPr/>
        </p:nvSpPr>
        <p:spPr>
          <a:xfrm>
            <a:off x="658368" y="3648456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PyPDF2 yields no text, Tesseract OCR processes the scanned image and passes extracted text to the indicator parsing stage.</a:t>
            </a:r>
            <a:endParaRPr lang="en-US" sz="950" dirty="0"/>
          </a:p>
        </p:txBody>
      </p:sp>
      <p:sp>
        <p:nvSpPr>
          <p:cNvPr id="55" name="Shape 47"/>
          <p:cNvSpPr/>
          <p:nvPr/>
        </p:nvSpPr>
        <p:spPr>
          <a:xfrm>
            <a:off x="4654296" y="3374136"/>
            <a:ext cx="3794760" cy="804672"/>
          </a:xfrm>
          <a:prstGeom prst="rect">
            <a:avLst/>
          </a:prstGeom>
          <a:solidFill>
            <a:srgbClr val="F0FB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48"/>
          <p:cNvSpPr/>
          <p:nvPr/>
        </p:nvSpPr>
        <p:spPr>
          <a:xfrm>
            <a:off x="4654296" y="3374136"/>
            <a:ext cx="73152" cy="80467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49"/>
          <p:cNvSpPr/>
          <p:nvPr/>
        </p:nvSpPr>
        <p:spPr>
          <a:xfrm>
            <a:off x="4800600" y="342900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Indicators Extracted</a:t>
            </a:r>
            <a:endParaRPr lang="en-US" sz="1050" dirty="0"/>
          </a:p>
        </p:txBody>
      </p:sp>
      <p:sp>
        <p:nvSpPr>
          <p:cNvPr id="58" name="Text 50"/>
          <p:cNvSpPr/>
          <p:nvPr/>
        </p:nvSpPr>
        <p:spPr>
          <a:xfrm>
            <a:off x="4800600" y="3648456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Glucose · HbA1c · Cholesterol · LDL · HDL · Triglycerides · Blood Pressure</a:t>
            </a:r>
            <a:endParaRPr lang="en-US" sz="950" dirty="0"/>
          </a:p>
        </p:txBody>
      </p:sp>
      <p:sp>
        <p:nvSpPr>
          <p:cNvPr id="59" name="Shape 51"/>
          <p:cNvSpPr/>
          <p:nvPr/>
        </p:nvSpPr>
        <p:spPr>
          <a:xfrm>
            <a:off x="274320" y="4315968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2"/>
          <p:cNvSpPr/>
          <p:nvPr/>
        </p:nvSpPr>
        <p:spPr>
          <a:xfrm>
            <a:off x="274320" y="4315968"/>
            <a:ext cx="73152" cy="56692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3"/>
          <p:cNvSpPr/>
          <p:nvPr/>
        </p:nvSpPr>
        <p:spPr>
          <a:xfrm>
            <a:off x="512064" y="4398264"/>
            <a:ext cx="402336" cy="402336"/>
          </a:xfrm>
          <a:prstGeom prst="ellipse">
            <a:avLst/>
          </a:prstGeom>
          <a:solidFill>
            <a:srgbClr val="EFF8F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590" y="4488790"/>
            <a:ext cx="221285" cy="221285"/>
          </a:xfrm>
          <a:prstGeom prst="rect">
            <a:avLst/>
          </a:prstGeom>
        </p:spPr>
      </p:pic>
      <p:sp>
        <p:nvSpPr>
          <p:cNvPr id="63" name="Text 54"/>
          <p:cNvSpPr/>
          <p:nvPr/>
        </p:nvSpPr>
        <p:spPr>
          <a:xfrm>
            <a:off x="1005840" y="440740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SQLite stores uploaded reports, extracted values, risk results, and user history for trend tracking across sessions.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B8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— Risk Prediction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61488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761488" cy="658368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21208" y="914400"/>
            <a:ext cx="438912" cy="438912"/>
          </a:xfrm>
          <a:prstGeom prst="ellipse">
            <a:avLst/>
          </a:prstGeom>
          <a:solidFill>
            <a:srgbClr val="0D9BA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1013155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859536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1792224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Glucose level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HbA1c (%)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BMI &amp; 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Blood Pressure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Insulin proxy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4023360"/>
            <a:ext cx="2487168" cy="71323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7200" y="404164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" y="422452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Low / Moderate / High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64408" y="804672"/>
            <a:ext cx="2761488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264408" y="804672"/>
            <a:ext cx="2761488" cy="6583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3465576" y="914400"/>
            <a:ext cx="438912" cy="438912"/>
          </a:xfrm>
          <a:prstGeom prst="ellipse">
            <a:avLst/>
          </a:prstGeom>
          <a:solidFill>
            <a:srgbClr val="0D9BA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331" y="1013155"/>
            <a:ext cx="241402" cy="24140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041648" y="859536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401568" y="1554480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401568" y="1792224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LDL / HDL / Cholesterol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Triglycerides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Blood Pressure (Systolic)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Age, Sex, BMI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Reported symptoms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401568" y="4023360"/>
            <a:ext cx="2487168" cy="7132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3401568" y="404164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401568" y="422452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Low / Moderate / High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208776" y="804672"/>
            <a:ext cx="2761488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6208776" y="804672"/>
            <a:ext cx="2761488" cy="658368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6409944" y="914400"/>
            <a:ext cx="438912" cy="438912"/>
          </a:xfrm>
          <a:prstGeom prst="ellipse">
            <a:avLst/>
          </a:prstGeom>
          <a:solidFill>
            <a:srgbClr val="0D9BA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699" y="1013155"/>
            <a:ext cx="241402" cy="24140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986016" y="859536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Chronic Risk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6345936" y="1554480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6345936" y="1792224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Aggregated risk signals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Co-occurrence patterns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Multi-condition scoring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Historical trend weight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345936" y="4023360"/>
            <a:ext cx="2487168" cy="713232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/>
          <p:nvPr/>
        </p:nvSpPr>
        <p:spPr>
          <a:xfrm>
            <a:off x="6345936" y="404164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6345936" y="422452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 Awareness Profile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320040" y="5010912"/>
            <a:ext cx="850392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320040" y="495604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scikit-learn  ·  Trained on publicly available clinical datasets  ·  Feature engineering from extracted report values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B8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868680"/>
            <a:ext cx="2697480" cy="5029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6072" y="937260"/>
            <a:ext cx="365760" cy="365760"/>
          </a:xfrm>
          <a:prstGeom prst="ellipse">
            <a:avLst/>
          </a:prstGeom>
          <a:solidFill>
            <a:srgbClr val="0D9BA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1955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923544"/>
            <a:ext cx="1965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UI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463040"/>
            <a:ext cx="24231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Streamlit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matplotlib / charts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dashboards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19272" y="868680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319272" y="868680"/>
            <a:ext cx="2697480" cy="50292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483864" y="937260"/>
            <a:ext cx="365760" cy="365760"/>
          </a:xfrm>
          <a:prstGeom prst="ellipse">
            <a:avLst/>
          </a:prstGeom>
          <a:solidFill>
            <a:srgbClr val="0D9BA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01955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59352" y="923544"/>
            <a:ext cx="1965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Logic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56432" y="1463040"/>
            <a:ext cx="24231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3.x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pandas · NumPy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Regex · Rule engine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27064" y="868680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227064" y="868680"/>
            <a:ext cx="2697480" cy="502920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391656" y="937260"/>
            <a:ext cx="365760" cy="365760"/>
          </a:xfrm>
          <a:prstGeom prst="ellipse">
            <a:avLst/>
          </a:prstGeom>
          <a:solidFill>
            <a:srgbClr val="0D9BA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1019556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67144" y="923544"/>
            <a:ext cx="1965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AI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64224" y="1463040"/>
            <a:ext cx="24231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scikit-learn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Trained ML models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explanation module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11480" y="2926080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411480" y="2926080"/>
            <a:ext cx="2697480" cy="502920"/>
          </a:xfrm>
          <a:prstGeom prst="rect">
            <a:avLst/>
          </a:prstGeom>
          <a:solidFill>
            <a:srgbClr val="0A8C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576072" y="2994660"/>
            <a:ext cx="365760" cy="365760"/>
          </a:xfrm>
          <a:prstGeom prst="ellipse">
            <a:avLst/>
          </a:prstGeom>
          <a:solidFill>
            <a:srgbClr val="0D9BA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076956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2980944"/>
            <a:ext cx="1965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3520440"/>
            <a:ext cx="24231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PyPDF2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Tesseract OCR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Pillow / image utils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319272" y="2926080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3319272" y="2926080"/>
            <a:ext cx="2697480" cy="502920"/>
          </a:xfrm>
          <a:prstGeom prst="rect">
            <a:avLst/>
          </a:prstGeom>
          <a:solidFill>
            <a:srgbClr val="C47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3483864" y="2994660"/>
            <a:ext cx="365760" cy="365760"/>
          </a:xfrm>
          <a:prstGeom prst="ellipse">
            <a:avLst/>
          </a:prstGeom>
          <a:solidFill>
            <a:srgbClr val="0D9BA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076956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59352" y="2980944"/>
            <a:ext cx="1965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Security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456432" y="3520440"/>
            <a:ext cx="24231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SQLite database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bcrypt auth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Saved report history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29"/>
          <p:cNvSpPr/>
          <p:nvPr/>
        </p:nvSpPr>
        <p:spPr>
          <a:xfrm>
            <a:off x="502920" y="4864608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Local / Streamlit Cloud  ·  All modules integrated into a single unified web application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B8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Working Implementation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2788920" cy="7315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585216" cy="585216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4" y="1210666"/>
            <a:ext cx="321869" cy="321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7556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Upload &amp; OCR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103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Upload PDF, JPG, PNG reports. OCR fallback for scanned documents. Immediate text extraction.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841248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246120" y="841248"/>
            <a:ext cx="2788920" cy="7315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337560" y="1078992"/>
            <a:ext cx="585216" cy="585216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9234" y="1210666"/>
            <a:ext cx="321869" cy="32186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17556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Extraction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2103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Regex-based parsing identifies glucose, HbA1c, cholesterol, LDL, HDL, triglycerides, and BP.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841248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217920" y="841248"/>
            <a:ext cx="2788920" cy="7315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309360" y="1078992"/>
            <a:ext cx="585216" cy="585216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034" y="1210666"/>
            <a:ext cx="321869" cy="32186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17556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ML Risk Prediction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09360" y="2103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Separate trained models for diabetes and heart disease risk. Combined chronic risk scoring.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74320" y="2898648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274320" y="2898648"/>
            <a:ext cx="2788920" cy="7315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65760" y="3136392"/>
            <a:ext cx="585216" cy="585216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4" y="3268066"/>
            <a:ext cx="321869" cy="32186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65760" y="38130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Visualization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365760" y="4160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Time-series charts from historical report uploads track health indicators over multiple sessions.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46120" y="2898648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3246120" y="2898648"/>
            <a:ext cx="2788920" cy="7315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3337560" y="3136392"/>
            <a:ext cx="585216" cy="585216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9234" y="3268066"/>
            <a:ext cx="321869" cy="321869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337560" y="38130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Patient-Friendly Output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337560" y="4160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Simplified risk explanations, plain-language summaries, and lifestyle recommendations per result.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217920" y="2898648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9"/>
          <p:cNvSpPr/>
          <p:nvPr/>
        </p:nvSpPr>
        <p:spPr>
          <a:xfrm>
            <a:off x="6217920" y="2898648"/>
            <a:ext cx="2788920" cy="7315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0"/>
          <p:cNvSpPr/>
          <p:nvPr/>
        </p:nvSpPr>
        <p:spPr>
          <a:xfrm>
            <a:off x="6309360" y="3136392"/>
            <a:ext cx="585216" cy="585216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034" y="3268066"/>
            <a:ext cx="321869" cy="321869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309360" y="38130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Chat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309360" y="4160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Integrated AI assistant answers patient questions about their results in simple, accessible language.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B8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736092"/>
            <a:ext cx="4224528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64592" y="736092"/>
            <a:ext cx="502920" cy="138988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64592" y="736092"/>
            <a:ext cx="502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" y="82753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Report Formats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8952" y="1138428"/>
            <a:ext cx="3520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reports from different labs use varied layouts, fonts, and terminology. Building robust regex patterns that generalize across formats required extensive iteration.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26864" y="736092"/>
            <a:ext cx="4224528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26864" y="736092"/>
            <a:ext cx="502920" cy="1389888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26864" y="736092"/>
            <a:ext cx="502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21224" y="82753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 on Scanned Docs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21224" y="1138428"/>
            <a:ext cx="3520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Scanned medical documents with poor scan quality, handwritten annotations, or watermarks degraded OCR output. Pre-processing steps and fallback logic were required.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4592" y="2244852"/>
            <a:ext cx="4224528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64592" y="2244852"/>
            <a:ext cx="502920" cy="1389888"/>
          </a:xfrm>
          <a:prstGeom prst="rect">
            <a:avLst/>
          </a:prstGeom>
          <a:solidFill>
            <a:srgbClr val="0A8C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64592" y="2244852"/>
            <a:ext cx="502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8952" y="233629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Medical-to-Lay Translation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8952" y="2647188"/>
            <a:ext cx="3520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Mapping clinical terminology (e.g., 'dyslipidemia') to patient-friendly language without losing accuracy required domain research and careful UX decisions.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26864" y="2244852"/>
            <a:ext cx="4224528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26864" y="2244852"/>
            <a:ext cx="502920" cy="1389888"/>
          </a:xfrm>
          <a:prstGeom prst="rect">
            <a:avLst/>
          </a:prstGeom>
          <a:solidFill>
            <a:srgbClr val="C47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26864" y="2244852"/>
            <a:ext cx="502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21224" y="233629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Multi-Module Integration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21224" y="2647188"/>
            <a:ext cx="3520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Connecting OCR, extraction, ML, database, authentication, and the Streamlit UI into one seamless working app was far more complex than building each module in isolation.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64592" y="3753612"/>
            <a:ext cx="4224528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64592" y="3753612"/>
            <a:ext cx="502920" cy="1389888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64592" y="3753612"/>
            <a:ext cx="502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58952" y="384505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Usability &amp; Depth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58952" y="4155948"/>
            <a:ext cx="3520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Designing an interface that feels accessible to non-clinical users while accurately conveying probabilistic ML results required iterative UX refinement.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26864" y="3753612"/>
            <a:ext cx="4224528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626864" y="3753612"/>
            <a:ext cx="502920" cy="13898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626864" y="3753612"/>
            <a:ext cx="502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221224" y="384505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Non-Diagnostic Framing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221224" y="4155948"/>
            <a:ext cx="3520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Ensuring users understand results are informational — not clinical diagnoses — while still being meaningful and useful was a constant design constraint.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B8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09728" cy="76809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75488" y="950976"/>
            <a:ext cx="512064" cy="512064"/>
          </a:xfrm>
          <a:prstGeom prst="ellipse">
            <a:avLst/>
          </a:prstGeom>
          <a:solidFill>
            <a:srgbClr val="EFF8F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" y="1066190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8961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Builds Trust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97280" y="1188720"/>
            <a:ext cx="7635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Healthcare AI must make every output understandable. Black-box results have no place in patient-facing tools.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1682496"/>
            <a:ext cx="859536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74320" y="1682496"/>
            <a:ext cx="109728" cy="768096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75488" y="1810512"/>
            <a:ext cx="512064" cy="512064"/>
          </a:xfrm>
          <a:prstGeom prst="ellipse">
            <a:avLst/>
          </a:prstGeom>
          <a:solidFill>
            <a:srgbClr val="EFF8F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" y="1925726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1755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 is Valuable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097280" y="2048256"/>
            <a:ext cx="7635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Medical reports contain rich, extractable intelligence — but handling messy, real-world formats demands resilient engineering.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74320" y="2542032"/>
            <a:ext cx="859536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274320" y="2542032"/>
            <a:ext cx="109728" cy="768096"/>
          </a:xfrm>
          <a:prstGeom prst="rect">
            <a:avLst/>
          </a:prstGeom>
          <a:solidFill>
            <a:srgbClr val="0A8C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75488" y="2670048"/>
            <a:ext cx="512064" cy="512064"/>
          </a:xfrm>
          <a:prstGeom prst="ellipse">
            <a:avLst/>
          </a:prstGeom>
          <a:solidFill>
            <a:srgbClr val="EFF8F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" y="2785262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7280" y="2615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Matters as Much as Accuracy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097280" y="2907792"/>
            <a:ext cx="7635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95%-accurate model means nothing if patients cannot understand or trust the output it produces.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74320" y="3401568"/>
            <a:ext cx="859536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274320" y="3401568"/>
            <a:ext cx="109728" cy="768096"/>
          </a:xfrm>
          <a:prstGeom prst="rect">
            <a:avLst/>
          </a:prstGeom>
          <a:solidFill>
            <a:srgbClr val="C47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475488" y="3529584"/>
            <a:ext cx="512064" cy="512064"/>
          </a:xfrm>
          <a:prstGeom prst="ellipse">
            <a:avLst/>
          </a:prstGeom>
          <a:solidFill>
            <a:srgbClr val="EFF8F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02" y="3644798"/>
            <a:ext cx="281635" cy="28163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728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Must Be Designed In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097280" y="3767328"/>
            <a:ext cx="7635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Non-diagnostic boundaries are not disclaimers — they must be embedded into the interaction design from the very beginning.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274320" y="4261104"/>
            <a:ext cx="859536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274320" y="4261104"/>
            <a:ext cx="109728" cy="768096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475488" y="4389120"/>
            <a:ext cx="512064" cy="512064"/>
          </a:xfrm>
          <a:prstGeom prst="ellipse">
            <a:avLst/>
          </a:prstGeom>
          <a:solidFill>
            <a:srgbClr val="EFF8F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702" y="4504334"/>
            <a:ext cx="281635" cy="28163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97280" y="4334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Is the Real Work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1097280" y="4626864"/>
            <a:ext cx="7635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Building individual modules is straightforward. Making them work together reliably in a real application is where true engineering happens.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B8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Novelty &amp; 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69080" cy="41330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069080" cy="402336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4048" y="804672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HealthLens Novel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379476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Patient-facing — not clinician-facing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Combines unstructured PDF/OCR + structured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Multimodal pipeline (text + image + demographics)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Explainable non-diagnostic risk support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Turns lab jargon into actionable insights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Supports proactive patient engagement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804672"/>
            <a:ext cx="4343400" cy="4133088"/>
          </a:xfrm>
          <a:prstGeom prst="rect">
            <a:avLst/>
          </a:prstGeom>
          <a:solidFill>
            <a:srgbClr val="F0FB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26280" y="804672"/>
            <a:ext cx="4343400" cy="40233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45152" y="804672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36592" y="1280160"/>
            <a:ext cx="402336" cy="402336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118" y="1370686"/>
            <a:ext cx="221285" cy="22128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230368" y="1316736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Improved patient understanding of personal health data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36592" y="2029968"/>
            <a:ext cx="402336" cy="402336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118" y="2120494"/>
            <a:ext cx="221285" cy="22128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30368" y="2066544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Earlier identification of high-risk biomarkers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36592" y="2779776"/>
            <a:ext cx="402336" cy="402336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118" y="2870302"/>
            <a:ext cx="221285" cy="22128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30368" y="2816352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Richer, better-informed patient-doctor conversations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736592" y="3529584"/>
            <a:ext cx="402336" cy="402336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7118" y="3620110"/>
            <a:ext cx="221285" cy="22128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30368" y="356616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Applied demonstration of AI/ML in real healthcare analytics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274320" y="5047488"/>
            <a:ext cx="859536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274320" y="4718304"/>
            <a:ext cx="8595360" cy="29260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411480" y="471830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HealthLens is a working, non-diagnostic, patient-centered tool that transforms complex medical reports into understandable risk insights.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772400" y="2926080"/>
            <a:ext cx="2560320" cy="2560320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0" y="1280160"/>
            <a:ext cx="4572000" cy="2468880"/>
          </a:xfrm>
          <a:prstGeom prst="rect">
            <a:avLst/>
          </a:prstGeom>
          <a:solidFill>
            <a:srgbClr val="0D2B55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069080" y="658368"/>
            <a:ext cx="1005840" cy="1005840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88696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0" y="15544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2286000" y="23042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C9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474720" y="2761488"/>
            <a:ext cx="2194560" cy="18288"/>
          </a:xfrm>
          <a:prstGeom prst="rect">
            <a:avLst/>
          </a:prstGeom>
          <a:solidFill>
            <a:srgbClr val="14B8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286000" y="2907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HealthLens  ·   Applied Research Project  ·  2026</a:t>
            </a:r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0" y="470916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Non-diagnostic  ·  Patient-Centered  ·  AI/ML-Powered  ·  Open to Discussion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1189</Words>
  <Application>Microsoft Macintosh PowerPoint</Application>
  <PresentationFormat>On-screen Show (16:9)</PresentationFormat>
  <Paragraphs>227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Segoe UI Historic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HealthLens - Clinical Decision Support System</dc:title>
  <dc:subject>PptxGenJS Presentation</dc:subject>
  <dc:creator>HealthLens Project</dc:creator>
  <cp:lastModifiedBy>Mohaimin, Akiful</cp:lastModifiedBy>
  <cp:revision>4</cp:revision>
  <dcterms:created xsi:type="dcterms:W3CDTF">2026-04-15T06:08:50Z</dcterms:created>
  <dcterms:modified xsi:type="dcterms:W3CDTF">2026-04-15T06:44:42Z</dcterms:modified>
</cp:coreProperties>
</file>